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libri (MS) Bold" charset="1" panose="020F0702030404030204"/>
      <p:regular r:id="rId23"/>
    </p:embeddedFont>
    <p:embeddedFont>
      <p:font typeface="Cambria Bold" charset="1" panose="02040803050406030204"/>
      <p:regular r:id="rId24"/>
    </p:embeddedFont>
    <p:embeddedFont>
      <p:font typeface="Calibri (MS) Italics" charset="1" panose="020F05020202040A0204"/>
      <p:regular r:id="rId25"/>
    </p:embeddedFont>
    <p:embeddedFont>
      <p:font typeface="Calibri (MS)" charset="1" panose="020F0502020204030204"/>
      <p:regular r:id="rId26"/>
    </p:embeddedFont>
    <p:embeddedFont>
      <p:font typeface="Courier New Bold" charset="1" panose="02070609020205020404"/>
      <p:regular r:id="rId27"/>
    </p:embeddedFont>
    <p:embeddedFont>
      <p:font typeface="Courier New" charset="1" panose="020703090202050204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3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3D6E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50440" y="630936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2125980"/>
            <a:ext cx="12344400" cy="548640"/>
            <a:chOff x="0" y="0"/>
            <a:chExt cx="16459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49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PROBLEM-BASED LEARNING MODULE  ·  PHASE 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1540" y="2743200"/>
            <a:ext cx="14813280" cy="1783080"/>
            <a:chOff x="0" y="0"/>
            <a:chExt cx="19751040" cy="2377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75104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Smart Noise Cancellation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4183380"/>
            <a:ext cx="13030200" cy="822960"/>
            <a:chOff x="0" y="0"/>
            <a:chExt cx="17373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37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i="true">
                  <a:solidFill>
                    <a:srgbClr val="EAF4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Fuzzy Logic Controller — System Design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5280660"/>
            <a:ext cx="14401800" cy="548640"/>
            <a:chOff x="0" y="0"/>
            <a:chExt cx="192024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E6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Level  +  Noise Frequency     →     Filter Strength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22260">
            <a:off x="973217" y="6231255"/>
            <a:ext cx="4417790" cy="0"/>
          </a:xfrm>
          <a:prstGeom prst="line">
            <a:avLst/>
          </a:prstGeom>
          <a:ln cap="rnd" w="19050">
            <a:solidFill>
              <a:srgbClr val="8FB7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60120" y="6446520"/>
            <a:ext cx="10972800" cy="548640"/>
            <a:chOff x="0" y="0"/>
            <a:chExt cx="14630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AF4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Inputs  ·  1 Output  ·  Mamdani Fuzzy Inference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6995160"/>
            <a:ext cx="12344400" cy="3962444"/>
            <a:chOff x="0" y="0"/>
            <a:chExt cx="16459200" cy="52832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0" cy="5283258"/>
            </a:xfrm>
            <a:custGeom>
              <a:avLst/>
              <a:gdLst/>
              <a:ahLst/>
              <a:cxnLst/>
              <a:rect r="r" b="b" t="t" l="l"/>
              <a:pathLst>
                <a:path h="5283258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283258"/>
                  </a:lnTo>
                  <a:lnTo>
                    <a:pt x="0" y="52832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64" r="0" b="202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16459200" cy="539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1875" b="true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Phase: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2 – System Design</a:t>
              </a:r>
            </a:p>
            <a:p>
              <a:pPr algn="l">
                <a:lnSpc>
                  <a:spcPts val="3037"/>
                </a:lnSpc>
              </a:pPr>
              <a:r>
                <a:rPr lang="en-US" sz="1875" b="true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Course: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Fuzzy Logic &amp; Genetic Programming</a:t>
              </a:r>
            </a:p>
            <a:p>
              <a:pPr algn="l">
                <a:lnSpc>
                  <a:spcPts val="3037"/>
                </a:lnSpc>
              </a:pPr>
              <a:r>
                <a:rPr lang="en-US" sz="1875" b="true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by: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</a:t>
              </a: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Mathukiya Maitri Prafulbhai- 240280111070</a:t>
              </a:r>
            </a:p>
            <a:p>
              <a:pPr algn="l">
                <a:lnSpc>
                  <a:spcPts val="30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                     Ramotiya Krupal Vinodbhai- 240280111064</a:t>
              </a:r>
            </a:p>
            <a:p>
              <a:pPr algn="l">
                <a:lnSpc>
                  <a:spcPts val="30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                     Mistry Meet Pragneshbhai- 250283111012</a:t>
              </a:r>
            </a:p>
            <a:p>
              <a:pPr algn="l">
                <a:lnSpc>
                  <a:spcPts val="3037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                     Modh Aarchi Chetan- 250283111013</a:t>
              </a:r>
            </a:p>
            <a:p>
              <a:pPr algn="l">
                <a:lnSpc>
                  <a:spcPts val="3037"/>
                </a:lnSpc>
              </a:pPr>
            </a:p>
            <a:p>
              <a:pPr algn="l">
                <a:lnSpc>
                  <a:spcPts val="3037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Does a Noise-Cancellation Controller Need Fuzzy Logic?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9483090" cy="6945630"/>
            <a:chOff x="0" y="0"/>
            <a:chExt cx="12644120" cy="9260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44120" cy="9260840"/>
            </a:xfrm>
            <a:custGeom>
              <a:avLst/>
              <a:gdLst/>
              <a:ahLst/>
              <a:cxnLst/>
              <a:rect r="r" b="b" t="t" l="l"/>
              <a:pathLst>
                <a:path h="9260840" w="1264412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2479147" y="0"/>
                  </a:lnTo>
                  <a:cubicBezTo>
                    <a:pt x="12570333" y="0"/>
                    <a:pt x="12644120" y="73914"/>
                    <a:pt x="12644120" y="164973"/>
                  </a:cubicBezTo>
                  <a:lnTo>
                    <a:pt x="12644120" y="9095867"/>
                  </a:lnTo>
                  <a:cubicBezTo>
                    <a:pt x="12644120" y="9187053"/>
                    <a:pt x="12570206" y="9260840"/>
                    <a:pt x="12479147" y="9260840"/>
                  </a:cubicBezTo>
                  <a:lnTo>
                    <a:pt x="164973" y="9260840"/>
                  </a:lnTo>
                  <a:cubicBezTo>
                    <a:pt x="73914" y="9260840"/>
                    <a:pt x="0" y="9186926"/>
                    <a:pt x="0" y="90958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43200"/>
            <a:ext cx="6858000" cy="411480"/>
            <a:chOff x="0" y="0"/>
            <a:chExt cx="91440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360420"/>
            <a:ext cx="548640" cy="548640"/>
            <a:chOff x="0" y="0"/>
            <a:chExt cx="7315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3360420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57400" y="3291840"/>
            <a:ext cx="7818120" cy="1165860"/>
            <a:chOff x="0" y="0"/>
            <a:chExt cx="1042416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241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664" r="0" b="-8066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4241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is not always simply ON or OFF. It can be low, medium, or high.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4759452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4759452"/>
            <a:ext cx="548640" cy="548640"/>
            <a:chOff x="0" y="0"/>
            <a:chExt cx="731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57400" y="4690872"/>
            <a:ext cx="7818120" cy="1165860"/>
            <a:chOff x="0" y="0"/>
            <a:chExt cx="1042416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241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664" r="0" b="-806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04241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Different frequencies can require different filter strengths.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3020" y="6158484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3020" y="6158484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57400" y="6089904"/>
            <a:ext cx="7818120" cy="1165860"/>
            <a:chOff x="0" y="0"/>
            <a:chExt cx="1042416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241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664" r="0" b="-8066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04241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fixed threshold may produce abrupt changes in filter operation.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3020" y="7557516"/>
            <a:ext cx="548640" cy="548640"/>
            <a:chOff x="0" y="0"/>
            <a:chExt cx="7315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03020" y="7557516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057400" y="7488936"/>
            <a:ext cx="7818120" cy="1165860"/>
            <a:chOff x="0" y="0"/>
            <a:chExt cx="1042416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241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664" r="0" b="-8066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04241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Fuzzy logic lets the controller reason using terms such as “low noise,” “medium frequency,” and “strong filtering.”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67060" y="2400300"/>
            <a:ext cx="6720840" cy="3771900"/>
            <a:chOff x="0" y="0"/>
            <a:chExt cx="8961120" cy="502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61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796528" y="0"/>
                  </a:lnTo>
                  <a:cubicBezTo>
                    <a:pt x="8887460" y="0"/>
                    <a:pt x="8961120" y="73660"/>
                    <a:pt x="8961120" y="164592"/>
                  </a:cubicBezTo>
                  <a:lnTo>
                    <a:pt x="8961120" y="4864608"/>
                  </a:lnTo>
                  <a:cubicBezTo>
                    <a:pt x="8961120" y="4955540"/>
                    <a:pt x="8887460" y="5029200"/>
                    <a:pt x="8796528" y="5029200"/>
                  </a:cubicBezTo>
                  <a:lnTo>
                    <a:pt x="164592" y="5029200"/>
                  </a:lnTo>
                  <a:cubicBezTo>
                    <a:pt x="73660" y="5029200"/>
                    <a:pt x="0" y="4955540"/>
                    <a:pt x="0" y="4864608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178540" y="2674620"/>
            <a:ext cx="5486400" cy="411480"/>
            <a:chOff x="0" y="0"/>
            <a:chExt cx="73152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TASK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178540" y="3154680"/>
            <a:ext cx="5897880" cy="2880360"/>
            <a:chOff x="0" y="0"/>
            <a:chExt cx="7863840" cy="3840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63840" cy="3840480"/>
            </a:xfrm>
            <a:custGeom>
              <a:avLst/>
              <a:gdLst/>
              <a:ahLst/>
              <a:cxnLst/>
              <a:rect r="r" b="b" t="t" l="l"/>
              <a:pathLst>
                <a:path h="38404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59" t="0" r="-126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7863840" cy="3945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fuzzy controller that reads:</a:t>
              </a:r>
            </a:p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Noise Level</a:t>
              </a:r>
            </a:p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Noise Frequency</a:t>
              </a:r>
            </a:p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produces:</a:t>
              </a:r>
            </a:p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Filter Strength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757535" y="6436995"/>
            <a:ext cx="6739890" cy="2899410"/>
            <a:chOff x="0" y="0"/>
            <a:chExt cx="8986520" cy="3865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86520" cy="3865880"/>
            </a:xfrm>
            <a:custGeom>
              <a:avLst/>
              <a:gdLst/>
              <a:ahLst/>
              <a:cxnLst/>
              <a:rect r="r" b="b" t="t" l="l"/>
              <a:pathLst>
                <a:path h="3865880" w="8986520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8820785" y="0"/>
                  </a:lnTo>
                  <a:cubicBezTo>
                    <a:pt x="8912352" y="0"/>
                    <a:pt x="8986520" y="74168"/>
                    <a:pt x="8986520" y="165735"/>
                  </a:cubicBezTo>
                  <a:lnTo>
                    <a:pt x="8986520" y="3700145"/>
                  </a:lnTo>
                  <a:cubicBezTo>
                    <a:pt x="8986520" y="3791712"/>
                    <a:pt x="8912352" y="3865880"/>
                    <a:pt x="8820785" y="3865880"/>
                  </a:cubicBezTo>
                  <a:lnTo>
                    <a:pt x="165735" y="3865880"/>
                  </a:lnTo>
                  <a:cubicBezTo>
                    <a:pt x="74168" y="3865880"/>
                    <a:pt x="0" y="3791712"/>
                    <a:pt x="0" y="3700145"/>
                  </a:cubicBezTo>
                  <a:close/>
                </a:path>
              </a:pathLst>
            </a:custGeom>
            <a:solidFill>
              <a:srgbClr val="EAF4E8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178540" y="6720840"/>
            <a:ext cx="5486400" cy="411480"/>
            <a:chOff x="0" y="0"/>
            <a:chExt cx="73152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E89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178540" y="7200900"/>
            <a:ext cx="5897880" cy="1920240"/>
            <a:chOff x="0" y="0"/>
            <a:chExt cx="7863840" cy="2560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8638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85725"/>
              <a:ext cx="7863840" cy="2646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 i="true">
                  <a:solidFill>
                    <a:srgbClr val="233A3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Smooth and interpretable control — filter strength should change gradually with conditions, not jump abruptly.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Problem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Four Main Stages of the Fuzzy Controller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3282315"/>
            <a:ext cx="3790950" cy="4956810"/>
            <a:chOff x="0" y="0"/>
            <a:chExt cx="5054600" cy="6609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6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505460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4889119" y="0"/>
                  </a:lnTo>
                  <a:cubicBezTo>
                    <a:pt x="4980559" y="0"/>
                    <a:pt x="5054600" y="74041"/>
                    <a:pt x="5054600" y="165481"/>
                  </a:cubicBezTo>
                  <a:lnTo>
                    <a:pt x="5054600" y="6443599"/>
                  </a:lnTo>
                  <a:cubicBezTo>
                    <a:pt x="5054600" y="6534912"/>
                    <a:pt x="4980559" y="6609080"/>
                    <a:pt x="4889119" y="6609080"/>
                  </a:cubicBezTo>
                  <a:lnTo>
                    <a:pt x="165481" y="6609080"/>
                  </a:lnTo>
                  <a:cubicBezTo>
                    <a:pt x="74041" y="6609080"/>
                    <a:pt x="0" y="6535039"/>
                    <a:pt x="0" y="64435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63140" y="2852928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63140" y="2852928"/>
            <a:ext cx="891540" cy="891540"/>
            <a:chOff x="0" y="0"/>
            <a:chExt cx="1188720" cy="118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046220"/>
            <a:ext cx="3360420" cy="960120"/>
            <a:chOff x="0" y="0"/>
            <a:chExt cx="44805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Crisp Inputs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5143500"/>
            <a:ext cx="3223260" cy="2880360"/>
            <a:chOff x="0" y="0"/>
            <a:chExt cx="4297680" cy="3840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76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54" t="0" r="-6465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4297680" cy="3916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4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Level (dB) and Noise Frequency (kHz) read from sensors.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94860" y="5143500"/>
            <a:ext cx="480060" cy="822960"/>
            <a:chOff x="0" y="0"/>
            <a:chExt cx="6400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4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65395" y="3282315"/>
            <a:ext cx="3790950" cy="4956810"/>
            <a:chOff x="0" y="0"/>
            <a:chExt cx="5054600" cy="6609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546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505460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4889119" y="0"/>
                  </a:lnTo>
                  <a:cubicBezTo>
                    <a:pt x="4980559" y="0"/>
                    <a:pt x="5054600" y="74041"/>
                    <a:pt x="5054600" y="165481"/>
                  </a:cubicBezTo>
                  <a:lnTo>
                    <a:pt x="5054600" y="6443599"/>
                  </a:lnTo>
                  <a:cubicBezTo>
                    <a:pt x="5054600" y="6534912"/>
                    <a:pt x="4980559" y="6609080"/>
                    <a:pt x="4889119" y="6609080"/>
                  </a:cubicBezTo>
                  <a:lnTo>
                    <a:pt x="165481" y="6609080"/>
                  </a:lnTo>
                  <a:cubicBezTo>
                    <a:pt x="74041" y="6609080"/>
                    <a:pt x="0" y="6535039"/>
                    <a:pt x="0" y="64435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15100" y="2852928"/>
            <a:ext cx="891540" cy="891540"/>
            <a:chOff x="0" y="0"/>
            <a:chExt cx="1188720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15100" y="2852928"/>
            <a:ext cx="891540" cy="891540"/>
            <a:chOff x="0" y="0"/>
            <a:chExt cx="118872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280660" y="4046220"/>
            <a:ext cx="3360420" cy="960120"/>
            <a:chOff x="0" y="0"/>
            <a:chExt cx="44805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Fuzzification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349240" y="5143500"/>
            <a:ext cx="3223260" cy="2880360"/>
            <a:chOff x="0" y="0"/>
            <a:chExt cx="4297680" cy="3840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976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54" t="0" r="-6465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4297680" cy="3916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4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 crisp readings into fuzzy membership degrees.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46820" y="5143500"/>
            <a:ext cx="480060" cy="822960"/>
            <a:chOff x="0" y="0"/>
            <a:chExt cx="6400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4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17355" y="3282315"/>
            <a:ext cx="3790950" cy="4956810"/>
            <a:chOff x="0" y="0"/>
            <a:chExt cx="5054600" cy="6609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546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505460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4889119" y="0"/>
                  </a:lnTo>
                  <a:cubicBezTo>
                    <a:pt x="4980559" y="0"/>
                    <a:pt x="5054600" y="74041"/>
                    <a:pt x="5054600" y="165481"/>
                  </a:cubicBezTo>
                  <a:lnTo>
                    <a:pt x="5054600" y="6443599"/>
                  </a:lnTo>
                  <a:cubicBezTo>
                    <a:pt x="5054600" y="6534912"/>
                    <a:pt x="4980559" y="6609080"/>
                    <a:pt x="4889119" y="6609080"/>
                  </a:cubicBezTo>
                  <a:lnTo>
                    <a:pt x="165481" y="6609080"/>
                  </a:lnTo>
                  <a:cubicBezTo>
                    <a:pt x="74041" y="6609080"/>
                    <a:pt x="0" y="6535039"/>
                    <a:pt x="0" y="64435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767060" y="2852928"/>
            <a:ext cx="891540" cy="891540"/>
            <a:chOff x="0" y="0"/>
            <a:chExt cx="1188720" cy="1188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D6698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767060" y="2852928"/>
            <a:ext cx="891540" cy="891540"/>
            <a:chOff x="0" y="0"/>
            <a:chExt cx="118872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32620" y="4046220"/>
            <a:ext cx="3360420" cy="960120"/>
            <a:chOff x="0" y="0"/>
            <a:chExt cx="448056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Rule Base &amp;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Inference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5143500"/>
            <a:ext cx="3223260" cy="2880360"/>
            <a:chOff x="0" y="0"/>
            <a:chExt cx="4297680" cy="3840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976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54" t="0" r="-6465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4297680" cy="3916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4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IF–THEN rules; combine antecedents with min / max.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98780" y="5143500"/>
            <a:ext cx="480060" cy="822960"/>
            <a:chOff x="0" y="0"/>
            <a:chExt cx="6400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64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69315" y="3282315"/>
            <a:ext cx="3790950" cy="4956810"/>
            <a:chOff x="0" y="0"/>
            <a:chExt cx="5054600" cy="6609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546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505460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4889119" y="0"/>
                  </a:lnTo>
                  <a:cubicBezTo>
                    <a:pt x="4980559" y="0"/>
                    <a:pt x="5054600" y="74041"/>
                    <a:pt x="5054600" y="165481"/>
                  </a:cubicBezTo>
                  <a:lnTo>
                    <a:pt x="5054600" y="6443599"/>
                  </a:lnTo>
                  <a:cubicBezTo>
                    <a:pt x="5054600" y="6534912"/>
                    <a:pt x="4980559" y="6609080"/>
                    <a:pt x="4889119" y="6609080"/>
                  </a:cubicBezTo>
                  <a:lnTo>
                    <a:pt x="165481" y="6609080"/>
                  </a:lnTo>
                  <a:cubicBezTo>
                    <a:pt x="74041" y="6609080"/>
                    <a:pt x="0" y="6535039"/>
                    <a:pt x="0" y="644359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5019020" y="2852928"/>
            <a:ext cx="891540" cy="891540"/>
            <a:chOff x="0" y="0"/>
            <a:chExt cx="1188720" cy="11887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019020" y="2852928"/>
            <a:ext cx="891540" cy="891540"/>
            <a:chOff x="0" y="0"/>
            <a:chExt cx="118872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0"/>
                  </a:moveTo>
                  <a:lnTo>
                    <a:pt x="1188720" y="0"/>
                  </a:lnTo>
                  <a:lnTo>
                    <a:pt x="1188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18872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84580" y="4046220"/>
            <a:ext cx="3360420" cy="960120"/>
            <a:chOff x="0" y="0"/>
            <a:chExt cx="448056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Defuzzification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853160" y="5143500"/>
            <a:ext cx="3223260" cy="2880360"/>
            <a:chOff x="0" y="0"/>
            <a:chExt cx="4297680" cy="38404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976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54" t="0" r="-6465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76200"/>
              <a:ext cx="4297680" cy="3916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4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 the fuzzy output set into a crisp Filter Strength (%).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2960" y="8641080"/>
            <a:ext cx="16596360" cy="1165860"/>
            <a:chOff x="0" y="0"/>
            <a:chExt cx="22128480" cy="15544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12847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389888"/>
                  </a:lnTo>
                  <a:cubicBezTo>
                    <a:pt x="22128479" y="1480820"/>
                    <a:pt x="22054820" y="1554480"/>
                    <a:pt x="21963887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4440" y="8641080"/>
            <a:ext cx="15773400" cy="1165860"/>
            <a:chOff x="0" y="0"/>
            <a:chExt cx="21031200" cy="15544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03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621" r="0" b="-21362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10312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C3E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Noise Level (dB) + Noise Frequency (kHz)  →  fuzzy memberships  →  IF–THEN rules  →  fuzzy output  →  crisp Filter Strength (%)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Architecture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· STEP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Identify Inputs, Output &amp; Ranges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606040"/>
          <a:ext cx="16554450" cy="2971800"/>
        </p:xfrm>
        <a:graphic>
          <a:graphicData uri="http://schemas.openxmlformats.org/drawingml/2006/table">
            <a:tbl>
              <a:tblPr/>
              <a:tblGrid>
                <a:gridCol w="4104643"/>
                <a:gridCol w="2474109"/>
                <a:gridCol w="4648154"/>
                <a:gridCol w="5327544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Linguistic Values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0–100 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Low, Medium, 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0–10 kHz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Low, Medium, 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0–100 %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Weak, Medium, 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5966460"/>
            <a:ext cx="16596360" cy="1577340"/>
            <a:chOff x="0" y="0"/>
            <a:chExt cx="22128480" cy="2103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7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938528"/>
                  </a:lnTo>
                  <a:cubicBezTo>
                    <a:pt x="22128479" y="2029460"/>
                    <a:pt x="22054820" y="2103120"/>
                    <a:pt x="21963887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6172200"/>
            <a:ext cx="15773400" cy="1234440"/>
            <a:chOff x="0" y="0"/>
            <a:chExt cx="2103120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103120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 i="true">
                  <a:solidFill>
                    <a:srgbClr val="1C3E5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Universe of discourse defines the full numerical range used by each fuzzy variable — every membership function for that variable is defined somewhere inside this range.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7886700"/>
            <a:ext cx="5280660" cy="411480"/>
            <a:chOff x="0" y="0"/>
            <a:chExt cx="704088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408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C3E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Noise Level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366760"/>
            <a:ext cx="5280660" cy="384048"/>
            <a:chOff x="0" y="0"/>
            <a:chExt cx="704088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0880" cy="512064"/>
            </a:xfrm>
            <a:custGeom>
              <a:avLst/>
              <a:gdLst/>
              <a:ahLst/>
              <a:cxnLst/>
              <a:rect r="r" b="b" t="t" l="l"/>
              <a:pathLst>
                <a:path h="512064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402336"/>
                  </a:lnTo>
                  <a:cubicBezTo>
                    <a:pt x="7040880" y="462915"/>
                    <a:pt x="6991731" y="512064"/>
                    <a:pt x="6931152" y="512064"/>
                  </a:cubicBezTo>
                  <a:lnTo>
                    <a:pt x="109728" y="512064"/>
                  </a:lnTo>
                  <a:cubicBezTo>
                    <a:pt x="49149" y="512064"/>
                    <a:pt x="0" y="462915"/>
                    <a:pt x="0" y="402336"/>
                  </a:cubicBezTo>
                  <a:close/>
                </a:path>
              </a:pathLst>
            </a:custGeom>
            <a:solidFill>
              <a:srgbClr val="D3E9D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366760"/>
            <a:ext cx="5280660" cy="384048"/>
            <a:chOff x="0" y="0"/>
            <a:chExt cx="704088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0880" cy="512064"/>
            </a:xfrm>
            <a:custGeom>
              <a:avLst/>
              <a:gdLst/>
              <a:ahLst/>
              <a:cxnLst/>
              <a:rect r="r" b="b" t="t" l="l"/>
              <a:pathLst>
                <a:path h="512064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402336"/>
                  </a:lnTo>
                  <a:cubicBezTo>
                    <a:pt x="7040880" y="462915"/>
                    <a:pt x="6991731" y="512064"/>
                    <a:pt x="6931152" y="512064"/>
                  </a:cubicBezTo>
                  <a:lnTo>
                    <a:pt x="109728" y="512064"/>
                  </a:lnTo>
                  <a:cubicBezTo>
                    <a:pt x="49149" y="512064"/>
                    <a:pt x="0" y="462915"/>
                    <a:pt x="0" y="402336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819388"/>
            <a:ext cx="2640330" cy="411480"/>
            <a:chOff x="0" y="0"/>
            <a:chExt cx="352044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2044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520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dB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63290" y="8819388"/>
            <a:ext cx="2640330" cy="411480"/>
            <a:chOff x="0" y="0"/>
            <a:chExt cx="35204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2044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520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dB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87668" y="7886700"/>
            <a:ext cx="5280660" cy="411480"/>
            <a:chOff x="0" y="0"/>
            <a:chExt cx="704088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0408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C3E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Noise Frequency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87668" y="8366760"/>
            <a:ext cx="5280660" cy="384048"/>
            <a:chOff x="0" y="0"/>
            <a:chExt cx="7040880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40880" cy="512064"/>
            </a:xfrm>
            <a:custGeom>
              <a:avLst/>
              <a:gdLst/>
              <a:ahLst/>
              <a:cxnLst/>
              <a:rect r="r" b="b" t="t" l="l"/>
              <a:pathLst>
                <a:path h="512064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402336"/>
                  </a:lnTo>
                  <a:cubicBezTo>
                    <a:pt x="7040880" y="462915"/>
                    <a:pt x="6991731" y="512064"/>
                    <a:pt x="6931152" y="512064"/>
                  </a:cubicBezTo>
                  <a:lnTo>
                    <a:pt x="109728" y="512064"/>
                  </a:lnTo>
                  <a:cubicBezTo>
                    <a:pt x="49149" y="512064"/>
                    <a:pt x="0" y="462915"/>
                    <a:pt x="0" y="402336"/>
                  </a:cubicBezTo>
                  <a:close/>
                </a:path>
              </a:pathLst>
            </a:custGeom>
            <a:solidFill>
              <a:srgbClr val="D3E9D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87668" y="8366760"/>
            <a:ext cx="5280660" cy="384048"/>
            <a:chOff x="0" y="0"/>
            <a:chExt cx="7040880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40880" cy="512064"/>
            </a:xfrm>
            <a:custGeom>
              <a:avLst/>
              <a:gdLst/>
              <a:ahLst/>
              <a:cxnLst/>
              <a:rect r="r" b="b" t="t" l="l"/>
              <a:pathLst>
                <a:path h="512064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402336"/>
                  </a:lnTo>
                  <a:cubicBezTo>
                    <a:pt x="7040880" y="462915"/>
                    <a:pt x="6991731" y="512064"/>
                    <a:pt x="6931152" y="512064"/>
                  </a:cubicBezTo>
                  <a:lnTo>
                    <a:pt x="109728" y="512064"/>
                  </a:lnTo>
                  <a:cubicBezTo>
                    <a:pt x="49149" y="512064"/>
                    <a:pt x="0" y="462915"/>
                    <a:pt x="0" y="402336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487668" y="8819388"/>
            <a:ext cx="2640330" cy="411480"/>
            <a:chOff x="0" y="0"/>
            <a:chExt cx="352044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2044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520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kHz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27998" y="8819388"/>
            <a:ext cx="2640330" cy="411480"/>
            <a:chOff x="0" y="0"/>
            <a:chExt cx="352044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2044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520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kHz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152376" y="7886700"/>
            <a:ext cx="5280660" cy="411480"/>
            <a:chOff x="0" y="0"/>
            <a:chExt cx="704088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0880" cy="548640"/>
            </a:xfrm>
            <a:custGeom>
              <a:avLst/>
              <a:gdLst/>
              <a:ahLst/>
              <a:cxnLst/>
              <a:rect r="r" b="b" t="t" l="l"/>
              <a:pathLst>
                <a:path h="54864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0408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C3E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 Strength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152376" y="8366760"/>
            <a:ext cx="5280660" cy="384048"/>
            <a:chOff x="0" y="0"/>
            <a:chExt cx="704088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40880" cy="512064"/>
            </a:xfrm>
            <a:custGeom>
              <a:avLst/>
              <a:gdLst/>
              <a:ahLst/>
              <a:cxnLst/>
              <a:rect r="r" b="b" t="t" l="l"/>
              <a:pathLst>
                <a:path h="512064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402336"/>
                  </a:lnTo>
                  <a:cubicBezTo>
                    <a:pt x="7040880" y="462915"/>
                    <a:pt x="6991731" y="512064"/>
                    <a:pt x="6931152" y="512064"/>
                  </a:cubicBezTo>
                  <a:lnTo>
                    <a:pt x="109728" y="512064"/>
                  </a:lnTo>
                  <a:cubicBezTo>
                    <a:pt x="49149" y="512064"/>
                    <a:pt x="0" y="462915"/>
                    <a:pt x="0" y="402336"/>
                  </a:cubicBezTo>
                  <a:close/>
                </a:path>
              </a:pathLst>
            </a:custGeom>
            <a:solidFill>
              <a:srgbClr val="D3E9D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52376" y="8366760"/>
            <a:ext cx="5280660" cy="384048"/>
            <a:chOff x="0" y="0"/>
            <a:chExt cx="7040880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0880" cy="512064"/>
            </a:xfrm>
            <a:custGeom>
              <a:avLst/>
              <a:gdLst/>
              <a:ahLst/>
              <a:cxnLst/>
              <a:rect r="r" b="b" t="t" l="l"/>
              <a:pathLst>
                <a:path h="512064" w="7040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931152" y="0"/>
                  </a:lnTo>
                  <a:cubicBezTo>
                    <a:pt x="6991731" y="0"/>
                    <a:pt x="7040880" y="49149"/>
                    <a:pt x="7040880" y="109728"/>
                  </a:cubicBezTo>
                  <a:lnTo>
                    <a:pt x="7040880" y="402336"/>
                  </a:lnTo>
                  <a:cubicBezTo>
                    <a:pt x="7040880" y="462915"/>
                    <a:pt x="6991731" y="512064"/>
                    <a:pt x="6931152" y="512064"/>
                  </a:cubicBezTo>
                  <a:lnTo>
                    <a:pt x="109728" y="512064"/>
                  </a:lnTo>
                  <a:cubicBezTo>
                    <a:pt x="49149" y="512064"/>
                    <a:pt x="0" y="462915"/>
                    <a:pt x="0" y="402336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152376" y="8819388"/>
            <a:ext cx="2640330" cy="411480"/>
            <a:chOff x="0" y="0"/>
            <a:chExt cx="352044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2044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520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792706" y="8819388"/>
            <a:ext cx="2640330" cy="411480"/>
            <a:chOff x="0" y="0"/>
            <a:chExt cx="352044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2044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028" r="0" b="-7502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520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100 %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Fuzzification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· STEP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Linguistic Variables &amp; Membership Functions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400300"/>
          <a:ext cx="16535400" cy="5924550"/>
        </p:xfrm>
        <a:graphic>
          <a:graphicData uri="http://schemas.openxmlformats.org/drawingml/2006/table">
            <a:tbl>
              <a:tblPr/>
              <a:tblGrid>
                <a:gridCol w="4642806"/>
                <a:gridCol w="3285591"/>
                <a:gridCol w="3964198"/>
                <a:gridCol w="4642806"/>
              </a:tblGrid>
              <a:tr h="604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MF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Parameters (a, b, c)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(0, 0, 50)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(25, 50, 75)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(50, 100, 100)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(0, 0, 5)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(2.5, 5, 7.5)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(5, 10, 10)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(0, 0, 50)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(25, 50, 75)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Triangular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(50, 100, 100)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8846820"/>
            <a:ext cx="16596360" cy="548640"/>
            <a:chOff x="0" y="0"/>
            <a:chExt cx="2212848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Triangular MFs are selected because they are simple, easy to calculate, and easy to explain in Phase 2.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Fuzzification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THEORY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Triangular Membership Function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09728" y="1604772"/>
            <a:ext cx="11192256" cy="7351776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0561320" y="2537460"/>
            <a:ext cx="6858000" cy="5486400"/>
            <a:chOff x="0" y="0"/>
            <a:chExt cx="9144000" cy="731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144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979408" y="0"/>
                  </a:lnTo>
                  <a:cubicBezTo>
                    <a:pt x="9070340" y="0"/>
                    <a:pt x="9144000" y="73660"/>
                    <a:pt x="9144000" y="164592"/>
                  </a:cubicBezTo>
                  <a:lnTo>
                    <a:pt x="9144000" y="7150608"/>
                  </a:lnTo>
                  <a:cubicBezTo>
                    <a:pt x="9144000" y="7241539"/>
                    <a:pt x="9070340" y="7315200"/>
                    <a:pt x="8979408" y="7315200"/>
                  </a:cubicBezTo>
                  <a:lnTo>
                    <a:pt x="164592" y="7315200"/>
                  </a:lnTo>
                  <a:cubicBezTo>
                    <a:pt x="73660" y="7315200"/>
                    <a:pt x="0" y="7241540"/>
                    <a:pt x="0" y="715060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0" y="2880360"/>
            <a:ext cx="6035040" cy="411480"/>
            <a:chOff x="0" y="0"/>
            <a:chExt cx="804672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046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FORMULA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0" y="3360420"/>
            <a:ext cx="6035040" cy="891540"/>
            <a:chOff x="0" y="0"/>
            <a:chExt cx="804672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8046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C3E5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μ(x) = max( min( (x−a)/(b−a), (c−x)/(c−b) ), 0 )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10800">
            <a:off x="10963256" y="4452938"/>
            <a:ext cx="6054119" cy="0"/>
          </a:xfrm>
          <a:prstGeom prst="line">
            <a:avLst/>
          </a:prstGeom>
          <a:ln cap="rnd" w="9525">
            <a:solidFill>
              <a:srgbClr val="D3E9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972800" y="4732020"/>
            <a:ext cx="6035040" cy="411480"/>
            <a:chOff x="0" y="0"/>
            <a:chExt cx="80467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46720" cy="548640"/>
            </a:xfrm>
            <a:custGeom>
              <a:avLst/>
              <a:gdLst/>
              <a:ahLst/>
              <a:cxnLst/>
              <a:rect r="r" b="b" t="t" l="l"/>
              <a:pathLst>
                <a:path h="548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46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PARAMETERS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0" y="5212080"/>
            <a:ext cx="6035040" cy="1508760"/>
            <a:chOff x="0" y="0"/>
            <a:chExt cx="804672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46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61925"/>
              <a:ext cx="8046720" cy="2173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E89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=  left foot  (μ = 0)</a:t>
              </a:r>
            </a:p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E89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=  peak  (μ = 1)</a:t>
              </a:r>
            </a:p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E89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=  right foot  (μ = 0)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0" y="6858000"/>
            <a:ext cx="6035040" cy="960120"/>
            <a:chOff x="0" y="0"/>
            <a:chExt cx="804672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6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804672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Membership value μ(x) always lies between 0 and 1.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Theory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· STEP 2 (CONTINUED)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Membership Functions: Inputs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8092440" cy="480060"/>
            <a:chOff x="0" y="0"/>
            <a:chExt cx="1078992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789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Noise Level (dB)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16" y="1865376"/>
            <a:ext cx="9710928" cy="696772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9368028" y="2194560"/>
            <a:ext cx="8092440" cy="480060"/>
            <a:chOff x="0" y="0"/>
            <a:chExt cx="1078992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89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Noise Frequency (kHz)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558784" y="1865376"/>
            <a:ext cx="9710928" cy="6967728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822960" y="8298180"/>
            <a:ext cx="16596360" cy="1440180"/>
            <a:chOff x="0" y="0"/>
            <a:chExt cx="2212848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28479" cy="1920240"/>
            </a:xfrm>
            <a:custGeom>
              <a:avLst/>
              <a:gdLst/>
              <a:ahLst/>
              <a:cxnLst/>
              <a:rect r="r" b="b" t="t" l="l"/>
              <a:pathLst>
                <a:path h="192024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755648"/>
                  </a:lnTo>
                  <a:cubicBezTo>
                    <a:pt x="22128479" y="1846580"/>
                    <a:pt x="22054820" y="1920240"/>
                    <a:pt x="21963887" y="1920240"/>
                  </a:cubicBezTo>
                  <a:lnTo>
                    <a:pt x="164592" y="1920240"/>
                  </a:lnTo>
                  <a:cubicBezTo>
                    <a:pt x="73660" y="1920240"/>
                    <a:pt x="0" y="1846580"/>
                    <a:pt x="0" y="175564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4440" y="8298180"/>
            <a:ext cx="15773400" cy="1440180"/>
            <a:chOff x="0" y="0"/>
            <a:chExt cx="2103120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07" r="0" b="-1634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03120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1C3E5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Both inputs use the same 3-term pattern (Low / Medium / High) with overlapping triangles — this overlap is what allows a reading to belong to two terms at once.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Fuzzification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· STEP 2 (CONTINUED)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Membership Function: Filter Strength (Output)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3020" y="1234440"/>
            <a:ext cx="15636240" cy="829818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822960" y="8503920"/>
            <a:ext cx="16596360" cy="1303020"/>
            <a:chOff x="0" y="0"/>
            <a:chExt cx="22128480" cy="1737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79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572768"/>
                  </a:lnTo>
                  <a:cubicBezTo>
                    <a:pt x="22128479" y="1663700"/>
                    <a:pt x="22054820" y="1737360"/>
                    <a:pt x="21963887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8503920"/>
            <a:ext cx="15773400" cy="1303020"/>
            <a:chOff x="0" y="0"/>
            <a:chExt cx="21031200" cy="1737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3120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1C3E5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output variable is fuzzified in exactly the same way as the inputs — this is what lets the inference engine and defuzzifier work with it.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Fuzzification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· STEP 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Construct the Fuzzy Rule Base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400300"/>
          <a:ext cx="16573500" cy="5924550"/>
        </p:xfrm>
        <a:graphic>
          <a:graphicData uri="http://schemas.openxmlformats.org/drawingml/2006/table">
            <a:tbl>
              <a:tblPr/>
              <a:tblGrid>
                <a:gridCol w="1116614"/>
                <a:gridCol w="4925572"/>
                <a:gridCol w="4925572"/>
                <a:gridCol w="5605743"/>
              </a:tblGrid>
              <a:tr h="604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Noise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Noise 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→ Filter 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911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C3E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8846820"/>
            <a:ext cx="16596360" cy="548640"/>
            <a:chOff x="0" y="0"/>
            <a:chExt cx="2212848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E89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Example: </a:t>
              </a:r>
              <a:r>
                <a:rPr lang="en-US" sz="18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IF Noise Level is High AND Noise Frequency is High THEN Filter Strength is Strong.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 Base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· STEP 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Sample Input for Fuzzification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092440" cy="4389120"/>
            <a:chOff x="0" y="0"/>
            <a:chExt cx="10789920" cy="5852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789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5687568"/>
                  </a:lnTo>
                  <a:cubicBezTo>
                    <a:pt x="10789920" y="5778500"/>
                    <a:pt x="10716260" y="5852160"/>
                    <a:pt x="10625328" y="5852160"/>
                  </a:cubicBezTo>
                  <a:lnTo>
                    <a:pt x="164592" y="5852160"/>
                  </a:lnTo>
                  <a:cubicBezTo>
                    <a:pt x="73660" y="5852160"/>
                    <a:pt x="0" y="5778500"/>
                    <a:pt x="0" y="5687568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80360"/>
            <a:ext cx="7132320" cy="480060"/>
            <a:chOff x="0" y="0"/>
            <a:chExt cx="950976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CBE6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SENSOR READING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303020" y="3497580"/>
          <a:ext cx="7124700" cy="1828800"/>
        </p:xfrm>
        <a:graphic>
          <a:graphicData uri="http://schemas.openxmlformats.org/drawingml/2006/table">
            <a:tbl>
              <a:tblPr/>
              <a:tblGrid>
                <a:gridCol w="4106047"/>
                <a:gridCol w="3018653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70 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Frequency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 kHz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C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303020" y="5692140"/>
            <a:ext cx="7132320" cy="685800"/>
            <a:chOff x="0" y="0"/>
            <a:chExt cx="950976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5097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EAF4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Firing operator: AND = minimum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8503" y="2527935"/>
            <a:ext cx="8111490" cy="4408170"/>
            <a:chOff x="0" y="0"/>
            <a:chExt cx="10815320" cy="587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15320" cy="5877560"/>
            </a:xfrm>
            <a:custGeom>
              <a:avLst/>
              <a:gdLst/>
              <a:ahLst/>
              <a:cxnLst/>
              <a:rect r="r" b="b" t="t" l="l"/>
              <a:pathLst>
                <a:path h="5877560" w="10815320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10649966" y="0"/>
                  </a:lnTo>
                  <a:cubicBezTo>
                    <a:pt x="10741279" y="0"/>
                    <a:pt x="10815320" y="74041"/>
                    <a:pt x="10815320" y="165354"/>
                  </a:cubicBezTo>
                  <a:lnTo>
                    <a:pt x="10815320" y="5712206"/>
                  </a:lnTo>
                  <a:cubicBezTo>
                    <a:pt x="10815320" y="5803519"/>
                    <a:pt x="10741279" y="5877560"/>
                    <a:pt x="10649966" y="5877560"/>
                  </a:cubicBezTo>
                  <a:lnTo>
                    <a:pt x="165354" y="5877560"/>
                  </a:lnTo>
                  <a:cubicBezTo>
                    <a:pt x="74041" y="5877560"/>
                    <a:pt x="0" y="5803519"/>
                    <a:pt x="0" y="5712206"/>
                  </a:cubicBezTo>
                  <a:close/>
                </a:path>
              </a:pathLst>
            </a:custGeom>
            <a:solidFill>
              <a:srgbClr val="EAF4E8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806940" y="2880360"/>
            <a:ext cx="7269480" cy="480060"/>
            <a:chOff x="0" y="0"/>
            <a:chExt cx="969264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06940" y="3497580"/>
            <a:ext cx="7269480" cy="3154680"/>
            <a:chOff x="0" y="0"/>
            <a:chExt cx="9692640" cy="4206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9692640" cy="4320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17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Calculate the membership degree of the sample in Low, Medium and High fuzzy sets for both inputs, then identify the rules that fire.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Worked Example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FUZZIFICATION RESULT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Membership Values for the Sample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743200"/>
          <a:ext cx="16535400" cy="2228850"/>
        </p:xfrm>
        <a:graphic>
          <a:graphicData uri="http://schemas.openxmlformats.org/drawingml/2006/table">
            <a:tbl>
              <a:tblPr/>
              <a:tblGrid>
                <a:gridCol w="6678628"/>
                <a:gridCol w="3285591"/>
                <a:gridCol w="3285591"/>
                <a:gridCol w="3285591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Level = 70 dB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Noise Frequency = 7 kHz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5349240"/>
            <a:ext cx="16596360" cy="1783080"/>
            <a:chOff x="0" y="0"/>
            <a:chExt cx="22128480" cy="2377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79" cy="2377440"/>
            </a:xfrm>
            <a:custGeom>
              <a:avLst/>
              <a:gdLst/>
              <a:ahLst/>
              <a:cxnLst/>
              <a:rect r="r" b="b" t="t" l="l"/>
              <a:pathLst>
                <a:path h="237744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212848"/>
                  </a:lnTo>
                  <a:cubicBezTo>
                    <a:pt x="22128479" y="2303780"/>
                    <a:pt x="22054820" y="2377440"/>
                    <a:pt x="21963887" y="2377440"/>
                  </a:cubicBezTo>
                  <a:lnTo>
                    <a:pt x="164592" y="2377440"/>
                  </a:lnTo>
                  <a:cubicBezTo>
                    <a:pt x="73660" y="2377440"/>
                    <a:pt x="0" y="2303780"/>
                    <a:pt x="0" y="221284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5554980"/>
            <a:ext cx="15773400" cy="1371600"/>
            <a:chOff x="0" y="0"/>
            <a:chExt cx="210312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103120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 i="true">
                  <a:solidFill>
                    <a:srgbClr val="1C3E5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Therefore, the sample belongs partly to the Medium and High categories for both inputs — both terms fire and will contribute to the rule evaluation.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7534275"/>
            <a:ext cx="3928110" cy="1870710"/>
            <a:chOff x="0" y="0"/>
            <a:chExt cx="5237480" cy="2494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374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52374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071237" y="0"/>
                  </a:lnTo>
                  <a:cubicBezTo>
                    <a:pt x="5163058" y="0"/>
                    <a:pt x="5237480" y="74422"/>
                    <a:pt x="5237480" y="166243"/>
                  </a:cubicBezTo>
                  <a:lnTo>
                    <a:pt x="5237480" y="2328037"/>
                  </a:lnTo>
                  <a:cubicBezTo>
                    <a:pt x="5237480" y="2419858"/>
                    <a:pt x="5163058" y="2494280"/>
                    <a:pt x="50712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7708392"/>
            <a:ext cx="3909060" cy="891540"/>
            <a:chOff x="0" y="0"/>
            <a:chExt cx="5212080" cy="1188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21208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853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0.20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8709660"/>
            <a:ext cx="3634740" cy="548640"/>
            <a:chOff x="0" y="0"/>
            <a:chExt cx="48463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Level → Medium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51679" y="7534275"/>
            <a:ext cx="3928110" cy="1870710"/>
            <a:chOff x="0" y="0"/>
            <a:chExt cx="523748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74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52374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071237" y="0"/>
                  </a:lnTo>
                  <a:cubicBezTo>
                    <a:pt x="5163058" y="0"/>
                    <a:pt x="5237480" y="74422"/>
                    <a:pt x="5237480" y="166243"/>
                  </a:cubicBezTo>
                  <a:lnTo>
                    <a:pt x="5237480" y="2328037"/>
                  </a:lnTo>
                  <a:cubicBezTo>
                    <a:pt x="5237480" y="2419858"/>
                    <a:pt x="5163058" y="2494280"/>
                    <a:pt x="50712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061204" y="7708392"/>
            <a:ext cx="3909060" cy="891540"/>
            <a:chOff x="0" y="0"/>
            <a:chExt cx="521208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21208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C49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0.40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98364" y="8709660"/>
            <a:ext cx="3634740" cy="548640"/>
            <a:chOff x="0" y="0"/>
            <a:chExt cx="48463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Level → High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89923" y="7534275"/>
            <a:ext cx="3928110" cy="1870710"/>
            <a:chOff x="0" y="0"/>
            <a:chExt cx="5237480" cy="2494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74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52374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071237" y="0"/>
                  </a:lnTo>
                  <a:cubicBezTo>
                    <a:pt x="5163058" y="0"/>
                    <a:pt x="5237480" y="74422"/>
                    <a:pt x="5237480" y="166243"/>
                  </a:cubicBezTo>
                  <a:lnTo>
                    <a:pt x="5237480" y="2328037"/>
                  </a:lnTo>
                  <a:cubicBezTo>
                    <a:pt x="5237480" y="2419858"/>
                    <a:pt x="5163058" y="2494280"/>
                    <a:pt x="50712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99448" y="7708392"/>
            <a:ext cx="3909060" cy="891540"/>
            <a:chOff x="0" y="0"/>
            <a:chExt cx="521208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21208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853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0.20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36608" y="8709660"/>
            <a:ext cx="3634740" cy="548640"/>
            <a:chOff x="0" y="0"/>
            <a:chExt cx="48463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Frequency → Medium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28167" y="7534275"/>
            <a:ext cx="3928110" cy="1870710"/>
            <a:chOff x="0" y="0"/>
            <a:chExt cx="5237480" cy="2494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374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52374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5071237" y="0"/>
                  </a:lnTo>
                  <a:cubicBezTo>
                    <a:pt x="5163058" y="0"/>
                    <a:pt x="5237480" y="74422"/>
                    <a:pt x="5237480" y="166243"/>
                  </a:cubicBezTo>
                  <a:lnTo>
                    <a:pt x="5237480" y="2328037"/>
                  </a:lnTo>
                  <a:cubicBezTo>
                    <a:pt x="5237480" y="2419858"/>
                    <a:pt x="5163058" y="2494280"/>
                    <a:pt x="50712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537692" y="7708392"/>
            <a:ext cx="3909060" cy="891540"/>
            <a:chOff x="0" y="0"/>
            <a:chExt cx="521208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12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21208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C49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0.40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74852" y="8709660"/>
            <a:ext cx="3634740" cy="548640"/>
            <a:chOff x="0" y="0"/>
            <a:chExt cx="48463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Frequency → High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Worked Example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 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Identify Fired Rules and Firing Strengths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880360"/>
          <a:ext cx="16573500" cy="3276600"/>
        </p:xfrm>
        <a:graphic>
          <a:graphicData uri="http://schemas.openxmlformats.org/drawingml/2006/table">
            <a:tbl>
              <a:tblPr/>
              <a:tblGrid>
                <a:gridCol w="1932819"/>
                <a:gridCol w="6285914"/>
                <a:gridCol w="4109366"/>
                <a:gridCol w="4245401"/>
              </a:tblGrid>
              <a:tr h="6814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Calculation (AND = min)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Firing Strength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648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min(0.20, 0.20)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E89A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C3E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8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min(0.20, 0.40)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E89A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C3E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648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min(0.40, 0.20)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E89A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C3E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8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33A3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min(0.40, 0.40)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E89A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C3E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6720840"/>
            <a:ext cx="16596360" cy="2674620"/>
            <a:chOff x="0" y="0"/>
            <a:chExt cx="22128480" cy="3566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79" cy="3566160"/>
            </a:xfrm>
            <a:custGeom>
              <a:avLst/>
              <a:gdLst/>
              <a:ahLst/>
              <a:cxnLst/>
              <a:rect r="r" b="b" t="t" l="l"/>
              <a:pathLst>
                <a:path h="356616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3401568"/>
                  </a:lnTo>
                  <a:cubicBezTo>
                    <a:pt x="22128479" y="3492500"/>
                    <a:pt x="22054820" y="3566160"/>
                    <a:pt x="21963887" y="3566160"/>
                  </a:cubicBezTo>
                  <a:lnTo>
                    <a:pt x="164592" y="3566160"/>
                  </a:lnTo>
                  <a:cubicBezTo>
                    <a:pt x="73660" y="3566160"/>
                    <a:pt x="0" y="3492500"/>
                    <a:pt x="0" y="3401568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6995160"/>
            <a:ext cx="15773400" cy="548640"/>
            <a:chOff x="0" y="0"/>
            <a:chExt cx="21031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031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CBE6C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Rules with zero membership do not contribute.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7612380"/>
            <a:ext cx="15773400" cy="1508760"/>
            <a:chOff x="0" y="0"/>
            <a:chExt cx="2103120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21031200" cy="2116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 of the four fired rules recommend “Strong” — with R9 (min = 0.40) carrying the strongest vote. This concentration toward Strong previews the defuzzified result on the next slide.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Worked Example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DEFUZZIFICATION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Weighted-Average Method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37160" y="1440180"/>
            <a:ext cx="11521440" cy="7200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0767060" y="2400300"/>
            <a:ext cx="6720840" cy="480060"/>
            <a:chOff x="0" y="0"/>
            <a:chExt cx="89611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Weighted-Average Table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767060" y="2948940"/>
          <a:ext cx="6705600" cy="2667000"/>
        </p:xfrm>
        <a:graphic>
          <a:graphicData uri="http://schemas.openxmlformats.org/drawingml/2006/table">
            <a:tbl>
              <a:tblPr/>
              <a:tblGrid>
                <a:gridCol w="2181002"/>
                <a:gridCol w="1373639"/>
                <a:gridCol w="1508199"/>
                <a:gridCol w="164276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w×value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E51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Strong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3A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8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822960" y="8023860"/>
            <a:ext cx="16596360" cy="1851660"/>
            <a:chOff x="0" y="0"/>
            <a:chExt cx="22128480" cy="2468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79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304288"/>
                  </a:lnTo>
                  <a:cubicBezTo>
                    <a:pt x="22128479" y="2395220"/>
                    <a:pt x="22054820" y="2468880"/>
                    <a:pt x="21963887" y="2468880"/>
                  </a:cubicBezTo>
                  <a:lnTo>
                    <a:pt x="164592" y="2468880"/>
                  </a:lnTo>
                  <a:cubicBezTo>
                    <a:pt x="73660" y="2468880"/>
                    <a:pt x="0" y="2395220"/>
                    <a:pt x="0" y="2304288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8229600"/>
            <a:ext cx="7543800" cy="685800"/>
            <a:chOff x="0" y="0"/>
            <a:chExt cx="10058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0058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AF4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Crisp Output = Σ(w × value) / Σw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52560" y="8023860"/>
            <a:ext cx="3017520" cy="1851660"/>
            <a:chOff x="0" y="0"/>
            <a:chExt cx="4023360" cy="2468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33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731" t="0" r="-2873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023360" cy="2487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C49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= 70%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0" y="8229600"/>
            <a:ext cx="4800600" cy="1371600"/>
            <a:chOff x="0" y="0"/>
            <a:chExt cx="640080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64008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i="true">
                  <a:solidFill>
                    <a:srgbClr val="CBE6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Filter Strength ≈ 70% → Strong noise cancellation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Worked Example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SYSTEM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Complete Phase-2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3145155"/>
            <a:ext cx="2967990" cy="3173730"/>
            <a:chOff x="0" y="0"/>
            <a:chExt cx="3957320" cy="4231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73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791712" y="0"/>
                  </a:lnTo>
                  <a:cubicBezTo>
                    <a:pt x="3883152" y="0"/>
                    <a:pt x="3957320" y="74168"/>
                    <a:pt x="3957320" y="165608"/>
                  </a:cubicBezTo>
                  <a:lnTo>
                    <a:pt x="3957320" y="4066032"/>
                  </a:lnTo>
                  <a:cubicBezTo>
                    <a:pt x="3957320" y="4157472"/>
                    <a:pt x="3883152" y="4231640"/>
                    <a:pt x="3791712" y="4231640"/>
                  </a:cubicBezTo>
                  <a:lnTo>
                    <a:pt x="165608" y="4231640"/>
                  </a:lnTo>
                  <a:cubicBezTo>
                    <a:pt x="74168" y="4231640"/>
                    <a:pt x="0" y="4157472"/>
                    <a:pt x="0" y="4066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54530" y="349758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49808" y="0"/>
                  </a:lnTo>
                  <a:cubicBezTo>
                    <a:pt x="840740" y="0"/>
                    <a:pt x="914400" y="73660"/>
                    <a:pt x="914400" y="164592"/>
                  </a:cubicBezTo>
                  <a:lnTo>
                    <a:pt x="914400" y="749808"/>
                  </a:lnTo>
                  <a:cubicBezTo>
                    <a:pt x="914400" y="840740"/>
                    <a:pt x="840740" y="914400"/>
                    <a:pt x="7498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54530" y="349758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4389120"/>
            <a:ext cx="2674620" cy="1028700"/>
            <a:chOff x="0" y="0"/>
            <a:chExt cx="356616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Noise Level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" y="5486400"/>
            <a:ext cx="2674620" cy="685800"/>
            <a:chOff x="0" y="0"/>
            <a:chExt cx="356616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566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0–100 dB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71900" y="4320540"/>
            <a:ext cx="329184" cy="822960"/>
            <a:chOff x="0" y="0"/>
            <a:chExt cx="438912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091559" y="3145155"/>
            <a:ext cx="2967990" cy="3173730"/>
            <a:chOff x="0" y="0"/>
            <a:chExt cx="3957320" cy="4231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573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791712" y="0"/>
                  </a:lnTo>
                  <a:cubicBezTo>
                    <a:pt x="3883152" y="0"/>
                    <a:pt x="3957320" y="74168"/>
                    <a:pt x="3957320" y="165608"/>
                  </a:cubicBezTo>
                  <a:lnTo>
                    <a:pt x="3957320" y="4066032"/>
                  </a:lnTo>
                  <a:cubicBezTo>
                    <a:pt x="3957320" y="4157472"/>
                    <a:pt x="3883152" y="4231640"/>
                    <a:pt x="3791712" y="4231640"/>
                  </a:cubicBezTo>
                  <a:lnTo>
                    <a:pt x="165608" y="4231640"/>
                  </a:lnTo>
                  <a:cubicBezTo>
                    <a:pt x="74168" y="4231640"/>
                    <a:pt x="0" y="4157472"/>
                    <a:pt x="0" y="4066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32654" y="349758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49808" y="0"/>
                  </a:lnTo>
                  <a:cubicBezTo>
                    <a:pt x="840740" y="0"/>
                    <a:pt x="914400" y="73660"/>
                    <a:pt x="914400" y="164592"/>
                  </a:cubicBezTo>
                  <a:lnTo>
                    <a:pt x="914400" y="749808"/>
                  </a:lnTo>
                  <a:cubicBezTo>
                    <a:pt x="914400" y="840740"/>
                    <a:pt x="840740" y="914400"/>
                    <a:pt x="7498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232654" y="3497580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238244" y="4389120"/>
            <a:ext cx="2674620" cy="1028700"/>
            <a:chOff x="0" y="0"/>
            <a:chExt cx="356616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Noise Frequency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238244" y="5486400"/>
            <a:ext cx="2674620" cy="685800"/>
            <a:chOff x="0" y="0"/>
            <a:chExt cx="356616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566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0–10 kHz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050024" y="4320540"/>
            <a:ext cx="329184" cy="822960"/>
            <a:chOff x="0" y="0"/>
            <a:chExt cx="438912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369683" y="3145155"/>
            <a:ext cx="2967990" cy="3173730"/>
            <a:chOff x="0" y="0"/>
            <a:chExt cx="3957320" cy="4231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573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791712" y="0"/>
                  </a:lnTo>
                  <a:cubicBezTo>
                    <a:pt x="3883152" y="0"/>
                    <a:pt x="3957320" y="74168"/>
                    <a:pt x="3957320" y="165608"/>
                  </a:cubicBezTo>
                  <a:lnTo>
                    <a:pt x="3957320" y="4066032"/>
                  </a:lnTo>
                  <a:cubicBezTo>
                    <a:pt x="3957320" y="4157472"/>
                    <a:pt x="3883152" y="4231640"/>
                    <a:pt x="3791712" y="4231640"/>
                  </a:cubicBezTo>
                  <a:lnTo>
                    <a:pt x="165608" y="4231640"/>
                  </a:lnTo>
                  <a:cubicBezTo>
                    <a:pt x="74168" y="4231640"/>
                    <a:pt x="0" y="4157472"/>
                    <a:pt x="0" y="4066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8510778" y="3497580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49808" y="0"/>
                  </a:lnTo>
                  <a:cubicBezTo>
                    <a:pt x="840740" y="0"/>
                    <a:pt x="914400" y="73660"/>
                    <a:pt x="914400" y="164592"/>
                  </a:cubicBezTo>
                  <a:lnTo>
                    <a:pt x="914400" y="749808"/>
                  </a:lnTo>
                  <a:cubicBezTo>
                    <a:pt x="914400" y="840740"/>
                    <a:pt x="840740" y="914400"/>
                    <a:pt x="7498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10778" y="3497580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16368" y="4389120"/>
            <a:ext cx="2674620" cy="1028700"/>
            <a:chOff x="0" y="0"/>
            <a:chExt cx="356616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Fuzzification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516368" y="5486400"/>
            <a:ext cx="2674620" cy="685800"/>
            <a:chOff x="0" y="0"/>
            <a:chExt cx="356616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566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Triangular MF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328148" y="4320540"/>
            <a:ext cx="329184" cy="822960"/>
            <a:chOff x="0" y="0"/>
            <a:chExt cx="438912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647807" y="3145155"/>
            <a:ext cx="2967990" cy="3173730"/>
            <a:chOff x="0" y="0"/>
            <a:chExt cx="3957320" cy="4231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73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791712" y="0"/>
                  </a:lnTo>
                  <a:cubicBezTo>
                    <a:pt x="3883152" y="0"/>
                    <a:pt x="3957320" y="74168"/>
                    <a:pt x="3957320" y="165608"/>
                  </a:cubicBezTo>
                  <a:lnTo>
                    <a:pt x="3957320" y="4066032"/>
                  </a:lnTo>
                  <a:cubicBezTo>
                    <a:pt x="3957320" y="4157472"/>
                    <a:pt x="3883152" y="4231640"/>
                    <a:pt x="3791712" y="4231640"/>
                  </a:cubicBezTo>
                  <a:lnTo>
                    <a:pt x="165608" y="4231640"/>
                  </a:lnTo>
                  <a:cubicBezTo>
                    <a:pt x="74168" y="4231640"/>
                    <a:pt x="0" y="4157472"/>
                    <a:pt x="0" y="4066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788902" y="349758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49808" y="0"/>
                  </a:lnTo>
                  <a:cubicBezTo>
                    <a:pt x="840740" y="0"/>
                    <a:pt x="914400" y="73660"/>
                    <a:pt x="914400" y="164592"/>
                  </a:cubicBezTo>
                  <a:lnTo>
                    <a:pt x="914400" y="749808"/>
                  </a:lnTo>
                  <a:cubicBezTo>
                    <a:pt x="914400" y="840740"/>
                    <a:pt x="840740" y="914400"/>
                    <a:pt x="7498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788902" y="3497580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794492" y="4389120"/>
            <a:ext cx="2674620" cy="1028700"/>
            <a:chOff x="0" y="0"/>
            <a:chExt cx="3566160" cy="1371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 IF–THEN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Rules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794492" y="5486400"/>
            <a:ext cx="2674620" cy="685800"/>
            <a:chOff x="0" y="0"/>
            <a:chExt cx="356616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566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Rule Base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606272" y="4320540"/>
            <a:ext cx="329184" cy="822960"/>
            <a:chOff x="0" y="0"/>
            <a:chExt cx="438912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438912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6E83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925931" y="3145155"/>
            <a:ext cx="2967990" cy="3173730"/>
            <a:chOff x="0" y="0"/>
            <a:chExt cx="3957320" cy="4231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573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57320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3791712" y="0"/>
                  </a:lnTo>
                  <a:cubicBezTo>
                    <a:pt x="3883152" y="0"/>
                    <a:pt x="3957320" y="74168"/>
                    <a:pt x="3957320" y="165608"/>
                  </a:cubicBezTo>
                  <a:lnTo>
                    <a:pt x="3957320" y="4066032"/>
                  </a:lnTo>
                  <a:cubicBezTo>
                    <a:pt x="3957320" y="4157472"/>
                    <a:pt x="3883152" y="4231640"/>
                    <a:pt x="3791712" y="4231640"/>
                  </a:cubicBezTo>
                  <a:lnTo>
                    <a:pt x="165608" y="4231640"/>
                  </a:lnTo>
                  <a:cubicBezTo>
                    <a:pt x="74168" y="4231640"/>
                    <a:pt x="0" y="4157472"/>
                    <a:pt x="0" y="40660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5067026" y="349758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49808" y="0"/>
                  </a:lnTo>
                  <a:cubicBezTo>
                    <a:pt x="840740" y="0"/>
                    <a:pt x="914400" y="73660"/>
                    <a:pt x="914400" y="164592"/>
                  </a:cubicBezTo>
                  <a:lnTo>
                    <a:pt x="914400" y="749808"/>
                  </a:lnTo>
                  <a:cubicBezTo>
                    <a:pt x="914400" y="840740"/>
                    <a:pt x="840740" y="914400"/>
                    <a:pt x="749808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067026" y="3497580"/>
            <a:ext cx="685800" cy="685800"/>
            <a:chOff x="0" y="0"/>
            <a:chExt cx="9144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072616" y="4389120"/>
            <a:ext cx="2674620" cy="1028700"/>
            <a:chOff x="0" y="0"/>
            <a:chExt cx="3566160" cy="1371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566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5661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Weighted Average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Defuzzification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072616" y="5486400"/>
            <a:ext cx="2674620" cy="685800"/>
            <a:chOff x="0" y="0"/>
            <a:chExt cx="356616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3566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6E83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Crisp Output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6995160"/>
            <a:ext cx="16596360" cy="2057400"/>
            <a:chOff x="0" y="0"/>
            <a:chExt cx="22128480" cy="2743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12847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578608"/>
                  </a:lnTo>
                  <a:cubicBezTo>
                    <a:pt x="22128479" y="2669540"/>
                    <a:pt x="22054820" y="2743200"/>
                    <a:pt x="21963887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34440" y="6995160"/>
            <a:ext cx="15773400" cy="2057400"/>
            <a:chOff x="0" y="0"/>
            <a:chExt cx="21031200" cy="2743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031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103120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C49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Sample:  70 dB + 7 kHz  →  fired rules  →  Filter Strength ≈ 70%  →  Strong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Design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PLAN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Google Colab Implementation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658368" cy="658368"/>
            <a:chOff x="0" y="0"/>
            <a:chExt cx="877824" cy="877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658368" cy="658368"/>
            <a:chOff x="0" y="0"/>
            <a:chExt cx="877824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5648" y="2455164"/>
            <a:ext cx="15636240" cy="891540"/>
            <a:chOff x="0" y="0"/>
            <a:chExt cx="2084832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Define triangular membership functions for the two inputs and one output.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470148"/>
            <a:ext cx="658368" cy="658368"/>
            <a:chOff x="0" y="0"/>
            <a:chExt cx="877824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3470148"/>
            <a:ext cx="658368" cy="658368"/>
            <a:chOff x="0" y="0"/>
            <a:chExt cx="877824" cy="877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55648" y="3387852"/>
            <a:ext cx="15636240" cy="891540"/>
            <a:chOff x="0" y="0"/>
            <a:chExt cx="20848320" cy="1188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the membership functions using Matplotlib.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402836"/>
            <a:ext cx="658368" cy="658368"/>
            <a:chOff x="0" y="0"/>
            <a:chExt cx="877824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4402836"/>
            <a:ext cx="658368" cy="658368"/>
            <a:chOff x="0" y="0"/>
            <a:chExt cx="877824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55648" y="4320540"/>
            <a:ext cx="15636240" cy="891540"/>
            <a:chOff x="0" y="0"/>
            <a:chExt cx="2084832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 sample values: Noise Level = 70 dB and Noise Frequency = 7 kHz.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335524"/>
            <a:ext cx="658368" cy="658368"/>
            <a:chOff x="0" y="0"/>
            <a:chExt cx="877824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5335524"/>
            <a:ext cx="658368" cy="658368"/>
            <a:chOff x="0" y="0"/>
            <a:chExt cx="877824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55648" y="5253228"/>
            <a:ext cx="15636240" cy="891540"/>
            <a:chOff x="0" y="0"/>
            <a:chExt cx="20848320" cy="1188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Calculate membership degrees and rule firing strengths.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268212"/>
            <a:ext cx="658368" cy="658368"/>
            <a:chOff x="0" y="0"/>
            <a:chExt cx="877824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6268212"/>
            <a:ext cx="658368" cy="658368"/>
            <a:chOff x="0" y="0"/>
            <a:chExt cx="877824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55648" y="6185916"/>
            <a:ext cx="15636240" cy="891540"/>
            <a:chOff x="0" y="0"/>
            <a:chExt cx="20848320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the 9-rule fuzzy rule base.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7200900"/>
            <a:ext cx="658368" cy="658368"/>
            <a:chOff x="0" y="0"/>
            <a:chExt cx="877824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8FB78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7200900"/>
            <a:ext cx="658368" cy="658368"/>
            <a:chOff x="0" y="0"/>
            <a:chExt cx="877824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55648" y="7118604"/>
            <a:ext cx="15636240" cy="891540"/>
            <a:chOff x="0" y="0"/>
            <a:chExt cx="20848320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Defuzzify using weighted average and display the crisp filter strength.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8133588"/>
            <a:ext cx="658368" cy="658368"/>
            <a:chOff x="0" y="0"/>
            <a:chExt cx="877824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8536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8133588"/>
            <a:ext cx="658368" cy="658368"/>
            <a:chOff x="0" y="0"/>
            <a:chExt cx="877824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55648" y="8051292"/>
            <a:ext cx="15636240" cy="891540"/>
            <a:chOff x="0" y="0"/>
            <a:chExt cx="20848320" cy="11887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8483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08483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the generated graphs and tables directly in the project PPT / report.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258300"/>
            <a:ext cx="16596360" cy="685800"/>
            <a:chOff x="0" y="0"/>
            <a:chExt cx="2212848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28479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749808"/>
                  </a:lnTo>
                  <a:cubicBezTo>
                    <a:pt x="22128479" y="840740"/>
                    <a:pt x="22054820" y="914400"/>
                    <a:pt x="21963887" y="914400"/>
                  </a:cubicBezTo>
                  <a:lnTo>
                    <a:pt x="164592" y="914400"/>
                  </a:lnTo>
                  <a:cubicBezTo>
                    <a:pt x="73660" y="914400"/>
                    <a:pt x="0" y="840740"/>
                    <a:pt x="0" y="749808"/>
                  </a:cubicBezTo>
                  <a:close/>
                </a:path>
              </a:pathLst>
            </a:custGeom>
            <a:solidFill>
              <a:srgbClr val="EAF4E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34440" y="9258300"/>
            <a:ext cx="15773400" cy="685800"/>
            <a:chOff x="0" y="0"/>
            <a:chExt cx="2103120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1031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tool:  </a:t>
              </a:r>
              <a:r>
                <a:rPr lang="en-US" sz="1950">
                  <a:solidFill>
                    <a:srgbClr val="1C3E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Colab  +  Python  +  NumPy  +  Matplotlib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2344400" cy="411480"/>
            <a:chOff x="0" y="0"/>
            <a:chExt cx="16459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32688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Expected Phase-2 Outcome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8042910" cy="2145030"/>
            <a:chOff x="0" y="0"/>
            <a:chExt cx="10723880" cy="2860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238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7238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557764" y="0"/>
                  </a:lnTo>
                  <a:cubicBezTo>
                    <a:pt x="10649458" y="0"/>
                    <a:pt x="10723880" y="74295"/>
                    <a:pt x="10723880" y="166116"/>
                  </a:cubicBezTo>
                  <a:lnTo>
                    <a:pt x="10723880" y="2693924"/>
                  </a:lnTo>
                  <a:cubicBezTo>
                    <a:pt x="10723880" y="2785618"/>
                    <a:pt x="10649585" y="2860040"/>
                    <a:pt x="105577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25755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325755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7400" y="2743200"/>
            <a:ext cx="6515100" cy="548640"/>
            <a:chOff x="0" y="0"/>
            <a:chExt cx="86868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8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68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Fuzzy Inputs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57400" y="3332988"/>
            <a:ext cx="6515100" cy="1165860"/>
            <a:chOff x="0" y="0"/>
            <a:chExt cx="868680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686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controller accepts Noise Level and Noise Frequency as fuzzy inputs.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85935" y="2527935"/>
            <a:ext cx="8042910" cy="2145030"/>
            <a:chOff x="0" y="0"/>
            <a:chExt cx="10723880" cy="2860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38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7238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557764" y="0"/>
                  </a:lnTo>
                  <a:cubicBezTo>
                    <a:pt x="10649458" y="0"/>
                    <a:pt x="10723880" y="74295"/>
                    <a:pt x="10723880" y="166116"/>
                  </a:cubicBezTo>
                  <a:lnTo>
                    <a:pt x="10723880" y="2693924"/>
                  </a:lnTo>
                  <a:cubicBezTo>
                    <a:pt x="10723880" y="2785618"/>
                    <a:pt x="10649585" y="2860040"/>
                    <a:pt x="105577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69780" y="325755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69780" y="3257550"/>
            <a:ext cx="685800" cy="685800"/>
            <a:chOff x="0" y="0"/>
            <a:chExt cx="914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29900" y="2743200"/>
            <a:ext cx="6515100" cy="548640"/>
            <a:chOff x="0" y="0"/>
            <a:chExt cx="86868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8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868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Membership Functions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29900" y="3332988"/>
            <a:ext cx="6515100" cy="1165860"/>
            <a:chOff x="0" y="0"/>
            <a:chExt cx="868680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686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Triangular membership functions represent Low, Medium and High conditions.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435" y="4996815"/>
            <a:ext cx="8042910" cy="2145030"/>
            <a:chOff x="0" y="0"/>
            <a:chExt cx="10723880" cy="2860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238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7238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557764" y="0"/>
                  </a:lnTo>
                  <a:cubicBezTo>
                    <a:pt x="10649458" y="0"/>
                    <a:pt x="10723880" y="74295"/>
                    <a:pt x="10723880" y="166116"/>
                  </a:cubicBezTo>
                  <a:lnTo>
                    <a:pt x="10723880" y="2693924"/>
                  </a:lnTo>
                  <a:cubicBezTo>
                    <a:pt x="10723880" y="2785618"/>
                    <a:pt x="10649585" y="2860040"/>
                    <a:pt x="105577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80" y="572643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572643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57400" y="5212080"/>
            <a:ext cx="6515100" cy="548640"/>
            <a:chOff x="0" y="0"/>
            <a:chExt cx="86868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8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68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Rule Base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5801868"/>
            <a:ext cx="6515100" cy="1165860"/>
            <a:chOff x="0" y="0"/>
            <a:chExt cx="868680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8686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9-rule IF–THEN knowledge base maps input conditions to Filter Strength.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85935" y="4996815"/>
            <a:ext cx="8042910" cy="2145030"/>
            <a:chOff x="0" y="0"/>
            <a:chExt cx="10723880" cy="2860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238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7238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10557764" y="0"/>
                  </a:lnTo>
                  <a:cubicBezTo>
                    <a:pt x="10649458" y="0"/>
                    <a:pt x="10723880" y="74295"/>
                    <a:pt x="10723880" y="166116"/>
                  </a:cubicBezTo>
                  <a:lnTo>
                    <a:pt x="10723880" y="2693924"/>
                  </a:lnTo>
                  <a:cubicBezTo>
                    <a:pt x="10723880" y="2785618"/>
                    <a:pt x="10649585" y="2860040"/>
                    <a:pt x="105577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E9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69780" y="5726430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3E51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69780" y="5726430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29900" y="5212080"/>
            <a:ext cx="6515100" cy="548640"/>
            <a:chOff x="0" y="0"/>
            <a:chExt cx="868680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8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8686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C3E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Worked Example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629900" y="5801868"/>
            <a:ext cx="6515100" cy="1165860"/>
            <a:chOff x="0" y="0"/>
            <a:chExt cx="8686800" cy="15544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86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86868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23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sample calculation demonstrates fuzzification, rule firing and weighted-average defuzzification.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7612380"/>
            <a:ext cx="16596360" cy="1783080"/>
            <a:chOff x="0" y="0"/>
            <a:chExt cx="22128480" cy="2377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28479" cy="2377440"/>
            </a:xfrm>
            <a:custGeom>
              <a:avLst/>
              <a:gdLst/>
              <a:ahLst/>
              <a:cxnLst/>
              <a:rect r="r" b="b" t="t" l="l"/>
              <a:pathLst>
                <a:path h="2377440" w="221284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2212848"/>
                  </a:lnTo>
                  <a:cubicBezTo>
                    <a:pt x="22128479" y="2303780"/>
                    <a:pt x="22054820" y="2377440"/>
                    <a:pt x="21963887" y="2377440"/>
                  </a:cubicBezTo>
                  <a:lnTo>
                    <a:pt x="164592" y="2377440"/>
                  </a:lnTo>
                  <a:cubicBezTo>
                    <a:pt x="73660" y="2377440"/>
                    <a:pt x="0" y="2303780"/>
                    <a:pt x="0" y="2212848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" y="7612380"/>
            <a:ext cx="15773400" cy="1783080"/>
            <a:chOff x="0" y="0"/>
            <a:chExt cx="21031200" cy="2377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03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21031200" cy="2482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 b="true">
                  <a:solidFill>
                    <a:srgbClr val="285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70 dB and 7 kHz, the calculated filter strength is approximately 70%, indicating strong cancellation. This design is ready to be implemented and demonstrated in Google Colab.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2960" y="9985248"/>
            <a:ext cx="75438" cy="75438"/>
            <a:chOff x="0" y="0"/>
            <a:chExt cx="100584" cy="1005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584" cy="100584"/>
            </a:xfrm>
            <a:custGeom>
              <a:avLst/>
              <a:gdLst/>
              <a:ahLst/>
              <a:cxnLst/>
              <a:rect r="r" b="b" t="t" l="l"/>
              <a:pathLst>
                <a:path h="100584" w="100584">
                  <a:moveTo>
                    <a:pt x="0" y="50292"/>
                  </a:moveTo>
                  <a:cubicBezTo>
                    <a:pt x="0" y="22479"/>
                    <a:pt x="22479" y="0"/>
                    <a:pt x="50292" y="0"/>
                  </a:cubicBezTo>
                  <a:cubicBezTo>
                    <a:pt x="78105" y="0"/>
                    <a:pt x="100584" y="22479"/>
                    <a:pt x="100584" y="50292"/>
                  </a:cubicBezTo>
                  <a:cubicBezTo>
                    <a:pt x="100584" y="78105"/>
                    <a:pt x="78105" y="100584"/>
                    <a:pt x="50292" y="100584"/>
                  </a:cubicBezTo>
                  <a:cubicBezTo>
                    <a:pt x="22479" y="100584"/>
                    <a:pt x="0" y="78105"/>
                    <a:pt x="0" y="50292"/>
                  </a:cubicBezTo>
                  <a:close/>
                </a:path>
              </a:pathLst>
            </a:custGeom>
            <a:solidFill>
              <a:srgbClr val="FFC49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69848" y="9820656"/>
            <a:ext cx="10972800" cy="384048"/>
            <a:chOff x="0" y="0"/>
            <a:chExt cx="14630400" cy="5120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4630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E83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3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29000" y="54864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D6E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1165860"/>
            <a:ext cx="10972800" cy="1371600"/>
            <a:chOff x="0" y="0"/>
            <a:chExt cx="14630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3497580"/>
            <a:ext cx="16322040" cy="5623560"/>
            <a:chOff x="0" y="0"/>
            <a:chExt cx="21762720" cy="7498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62720" cy="7498080"/>
            </a:xfrm>
            <a:custGeom>
              <a:avLst/>
              <a:gdLst/>
              <a:ahLst/>
              <a:cxnLst/>
              <a:rect r="r" b="b" t="t" l="l"/>
              <a:pathLst>
                <a:path h="749808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7333488"/>
                  </a:lnTo>
                  <a:cubicBezTo>
                    <a:pt x="21762720" y="7424420"/>
                    <a:pt x="21689061" y="7498080"/>
                    <a:pt x="21598128" y="7498080"/>
                  </a:cubicBezTo>
                  <a:lnTo>
                    <a:pt x="164592" y="7498080"/>
                  </a:lnTo>
                  <a:cubicBezTo>
                    <a:pt x="73660" y="7498080"/>
                    <a:pt x="0" y="7424420"/>
                    <a:pt x="0" y="73334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3840480"/>
            <a:ext cx="8229600" cy="480060"/>
            <a:chOff x="0" y="0"/>
            <a:chExt cx="1097280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8FB7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1600" y="4419600"/>
            <a:ext cx="15499080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233A3A"/>
                </a:solidFill>
                <a:latin typeface="Calibri (MS)"/>
                <a:ea typeface="Calibri (MS)"/>
                <a:cs typeface="Calibri (MS)"/>
                <a:sym typeface="Calibri (MS)"/>
              </a:rPr>
              <a:t>J. M. Sousa, C. A. Silva, and J. M. Sá da Costa, “Fuzzy Active Noise Modeling and Control,” International Journal of Approximate Reasoning, Vol. 33, Issue 1, 2003, pp. 51–70. 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233A3A"/>
                </a:solidFill>
                <a:latin typeface="Calibri (MS)"/>
                <a:ea typeface="Calibri (MS)"/>
                <a:cs typeface="Calibri (MS)"/>
                <a:sym typeface="Calibri (MS)"/>
              </a:rPr>
              <a:t>C. Y. Chang and K. K. Shyu, “Active Noise Cancellation with a Fuzzy Adaptive Filtered-X Algorithm,” IEE Proceedings – Circuits, Devices and Systems, Vol. 150, No. 5, 2003, pp. 416–422. 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233A3A"/>
                </a:solidFill>
                <a:latin typeface="Calibri (MS)"/>
                <a:ea typeface="Calibri (MS)"/>
                <a:cs typeface="Calibri (MS)"/>
                <a:sym typeface="Calibri (MS)"/>
              </a:rPr>
              <a:t>T. Peng, Q. Zhu, M. O. Tokhi, and Y. Yao, “Fuzzy Logic Feedforward Active Noise Control with Distance Ratio and Acoustic Feedback Using Takagi–Sugeno–Kang Inference,” Journal of Vibration and Control, 2020. 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233A3A"/>
                </a:solidFill>
                <a:latin typeface="Calibri (MS)"/>
                <a:ea typeface="Calibri (MS)"/>
                <a:cs typeface="Calibri (MS)"/>
                <a:sym typeface="Calibri (MS)"/>
              </a:rPr>
              <a:t>S. Kurczyk and M. Pawelczyk, “Active Noise Control Using a Fuzzy Inference System Without Secondary Path Modelling,” Archives of Acoustics. 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233A3A"/>
                </a:solidFill>
                <a:latin typeface="Calibri (MS)"/>
                <a:ea typeface="Calibri (MS)"/>
                <a:cs typeface="Calibri (MS)"/>
                <a:sym typeface="Calibri (MS)"/>
              </a:rPr>
              <a:t>M.-C. Huynh and C.-Y. Chang, “Novel Adaptive Fuzzy Feedback Neural Network Controller for Narrowband Active Noise Control System,” IEEE Access, Vol. 10, 2022, pp. 41740–41747.</a:t>
            </a:r>
          </a:p>
          <a:p>
            <a:pPr algn="l">
              <a:lnSpc>
                <a:spcPts val="243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9820656"/>
            <a:ext cx="12344400" cy="384048"/>
            <a:chOff x="0" y="0"/>
            <a:chExt cx="1645920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64592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EAF4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Fuzzy Logic &amp; Genetic Programming  ·  Phase 2 – System Design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45000" y="9820656"/>
            <a:ext cx="685800" cy="384048"/>
            <a:chOff x="0" y="0"/>
            <a:chExt cx="914400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0" t="0" r="-2185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EAF4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DAHSeEHukr8</dc:identifier>
  <dcterms:modified xsi:type="dcterms:W3CDTF">2011-08-01T06:04:30Z</dcterms:modified>
  <cp:revision>1</cp:revision>
  <dc:title>Phase: Phase 2 – System Design Course: Fuzzy Logic &amp; Genetic Programming Presented by: [Your Name] · [Roll No.]</dc:title>
</cp:coreProperties>
</file>